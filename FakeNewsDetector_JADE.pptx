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457200" y="1188720"/>
            <a:ext cx="64008" cy="283464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685800" y="1143000"/>
            <a:ext cx="2194560" cy="329184"/>
          </a:xfrm>
          <a:prstGeom prst="rect">
            <a:avLst/>
          </a:prstGeom>
          <a:solidFill>
            <a:srgbClr val="0C355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685800" y="114300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b="1" lang="es-ES" sz="10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Sistemas Inteligentes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685800" y="1627632"/>
            <a:ext cx="80467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Georgia"/>
              <a:buNone/>
            </a:pPr>
            <a:r>
              <a:rPr b="1" lang="es-ES" sz="4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Fake News Detector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85800" y="2670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700"/>
              <a:buFont typeface="Calibri"/>
              <a:buNone/>
            </a:pPr>
            <a:r>
              <a:rPr lang="es-ES" sz="17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Sistema Multi-Agente para detección de noticias falsas y sesgadas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3"/>
          <p:cNvCxnSpPr/>
          <p:nvPr/>
        </p:nvCxnSpPr>
        <p:spPr>
          <a:xfrm>
            <a:off x="685800" y="3310128"/>
            <a:ext cx="777240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/>
          <p:nvPr/>
        </p:nvSpPr>
        <p:spPr>
          <a:xfrm>
            <a:off x="685800" y="34747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GRUPO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85800" y="37673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lang="es-ES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Diego Plaza  ·  Javier Herrera  ·  Eva Pombo  ·  Álvaro Moreno  ·  Irene Quesada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178040" y="4572000"/>
            <a:ext cx="1691640" cy="384048"/>
          </a:xfrm>
          <a:prstGeom prst="rect">
            <a:avLst/>
          </a:prstGeom>
          <a:solidFill>
            <a:srgbClr val="0C355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178040" y="4572000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b="1" lang="es-ES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Java  ·  JADE 4.6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02920" y="2286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lang="es-ES" sz="3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Índice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84048" y="1115568"/>
            <a:ext cx="4069080" cy="86868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2D3F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84048" y="1115568"/>
            <a:ext cx="64008" cy="86868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1115568"/>
            <a:ext cx="6217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200"/>
              <a:buFont typeface="Georgia"/>
              <a:buNone/>
            </a:pPr>
            <a:r>
              <a:rPr b="1" lang="es-ES" sz="2200">
                <a:solidFill>
                  <a:srgbClr val="0EA5E9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188720" y="1207008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s-E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188720" y="1591056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Contexto y problema planteado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84048" y="2194560"/>
            <a:ext cx="4069080" cy="86868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2D3F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84048" y="2194560"/>
            <a:ext cx="64008" cy="86868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48640" y="2194560"/>
            <a:ext cx="6217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200"/>
              <a:buFont typeface="Georgia"/>
              <a:buNone/>
            </a:pPr>
            <a:r>
              <a:rPr b="1" lang="es-ES" sz="2200">
                <a:solidFill>
                  <a:srgbClr val="0EA5E9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188720" y="2286000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s-E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88720" y="267004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Qué queremos conseguir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84048" y="3273552"/>
            <a:ext cx="4069080" cy="86868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2D3F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84048" y="3273552"/>
            <a:ext cx="64008" cy="86868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48640" y="3273552"/>
            <a:ext cx="6217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200"/>
              <a:buFont typeface="Georgia"/>
              <a:buNone/>
            </a:pPr>
            <a:r>
              <a:rPr b="1" lang="es-ES" sz="2200">
                <a:solidFill>
                  <a:srgbClr val="7C3AED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188720" y="3364992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s-E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del sistema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188720" y="374904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Flujo de mensajes entre agentes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736592" y="1115568"/>
            <a:ext cx="4069080" cy="86868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2D3F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736592" y="1115568"/>
            <a:ext cx="64008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901184" y="1115568"/>
            <a:ext cx="6217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Georgia"/>
              <a:buNone/>
            </a:pPr>
            <a:r>
              <a:rPr b="1" lang="es-ES" sz="2200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541264" y="1207008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s-E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Estructura del proyecto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541264" y="1591056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Agentes y behaviours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736592" y="2194560"/>
            <a:ext cx="4069080" cy="86868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2D3F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736592" y="2194560"/>
            <a:ext cx="64008" cy="86868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901184" y="2194560"/>
            <a:ext cx="6217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2200"/>
              <a:buFont typeface="Georgia"/>
              <a:buNone/>
            </a:pPr>
            <a:r>
              <a:rPr b="1" lang="es-ES" sz="2200">
                <a:solidFill>
                  <a:srgbClr val="059669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541264" y="2286000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s-E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541264" y="267004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 que vamos a enseñar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246888" y="9144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s-E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 · Descripción del proyecto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56032" y="91440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Georgia"/>
              <a:buNone/>
            </a:pPr>
            <a:r>
              <a:rPr b="1" lang="es-ES" sz="2000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El problema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56032" y="1588326"/>
            <a:ext cx="155400" cy="1554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12064" y="1348253"/>
            <a:ext cx="3840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s-ES" sz="15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Exceso de bulos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256032" y="2311675"/>
            <a:ext cx="155400" cy="1554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12064" y="2084832"/>
            <a:ext cx="3840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s-ES" sz="15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Propagación</a:t>
            </a:r>
            <a:r>
              <a:rPr lang="es-ES" sz="15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inmediata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256032" y="3074712"/>
            <a:ext cx="155400" cy="1554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12064" y="2834640"/>
            <a:ext cx="3840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s-ES" sz="15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Verificación</a:t>
            </a:r>
            <a:r>
              <a:rPr lang="es-ES" sz="15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manual imposible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5"/>
          <p:cNvCxnSpPr/>
          <p:nvPr/>
        </p:nvCxnSpPr>
        <p:spPr>
          <a:xfrm>
            <a:off x="4459944" y="886968"/>
            <a:ext cx="11400" cy="27246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5"/>
          <p:cNvSpPr/>
          <p:nvPr/>
        </p:nvSpPr>
        <p:spPr>
          <a:xfrm>
            <a:off x="4828032" y="91440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Georgia"/>
              <a:buNone/>
            </a:pPr>
            <a:r>
              <a:rPr b="1" lang="es-ES" sz="2000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La solución planteada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828032" y="1525905"/>
            <a:ext cx="1902000" cy="438900"/>
          </a:xfrm>
          <a:prstGeom prst="rect">
            <a:avLst/>
          </a:prstGeom>
          <a:solidFill>
            <a:srgbClr val="E0F2FE"/>
          </a:solidFill>
          <a:ln cap="flat" cmpd="sng" w="95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828032" y="1525905"/>
            <a:ext cx="1902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150"/>
              <a:buFont typeface="Calibri"/>
              <a:buNone/>
            </a:pPr>
            <a:r>
              <a:rPr b="1" lang="es-ES" sz="115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Java + JADE 4.6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912864" y="1525905"/>
            <a:ext cx="1902000" cy="438900"/>
          </a:xfrm>
          <a:prstGeom prst="rect">
            <a:avLst/>
          </a:prstGeom>
          <a:solidFill>
            <a:srgbClr val="EDE9FE"/>
          </a:solidFill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912864" y="1525905"/>
            <a:ext cx="1902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0764"/>
              </a:buClr>
              <a:buSzPts val="1150"/>
              <a:buFont typeface="Calibri"/>
              <a:buNone/>
            </a:pPr>
            <a:r>
              <a:rPr b="1" lang="es-ES" sz="1150">
                <a:solidFill>
                  <a:srgbClr val="3B0764"/>
                </a:solidFill>
                <a:latin typeface="Calibri"/>
                <a:ea typeface="Calibri"/>
                <a:cs typeface="Calibri"/>
                <a:sym typeface="Calibri"/>
              </a:rPr>
              <a:t>Protocolo FIPA-ACL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828032" y="2092833"/>
            <a:ext cx="1902000" cy="438900"/>
          </a:xfrm>
          <a:prstGeom prst="rect">
            <a:avLst/>
          </a:prstGeom>
          <a:solidFill>
            <a:srgbClr val="CCFBF1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828032" y="2092833"/>
            <a:ext cx="1902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150"/>
              <a:buFont typeface="Calibri"/>
              <a:buNone/>
            </a:pPr>
            <a:r>
              <a:rPr b="1" lang="es-ES" sz="1150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Arquitectura MAS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912864" y="2092833"/>
            <a:ext cx="1902000" cy="438900"/>
          </a:xfrm>
          <a:prstGeom prst="rect">
            <a:avLst/>
          </a:prstGeom>
          <a:solidFill>
            <a:srgbClr val="D1FAE5"/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912864" y="2092833"/>
            <a:ext cx="1902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1150"/>
              <a:buFont typeface="Calibri"/>
              <a:buNone/>
            </a:pPr>
            <a:r>
              <a:rPr b="1" lang="es-ES" sz="1150">
                <a:solidFill>
                  <a:srgbClr val="064E3B"/>
                </a:solidFill>
                <a:latin typeface="Calibri"/>
                <a:ea typeface="Calibri"/>
                <a:cs typeface="Calibri"/>
                <a:sym typeface="Calibri"/>
              </a:rPr>
              <a:t>NLP en Java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256032" y="3894963"/>
            <a:ext cx="1975200" cy="8046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256032" y="3894963"/>
            <a:ext cx="1975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800"/>
              <a:buFont typeface="Georgia"/>
              <a:buNone/>
            </a:pPr>
            <a:r>
              <a:rPr b="1" lang="es-ES" sz="2800">
                <a:solidFill>
                  <a:srgbClr val="0EA5E9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256032" y="4315587"/>
            <a:ext cx="197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s-ES" sz="1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Agentes en total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2414016" y="3894963"/>
            <a:ext cx="1975200" cy="8046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2414016" y="3894963"/>
            <a:ext cx="1975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800"/>
              <a:buFont typeface="Georgia"/>
              <a:buNone/>
            </a:pPr>
            <a:r>
              <a:rPr b="1" lang="es-ES" sz="2800">
                <a:solidFill>
                  <a:srgbClr val="0EA5E9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2414016" y="4315587"/>
            <a:ext cx="197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s-ES" sz="1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Fuentes de entrada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572000" y="3894963"/>
            <a:ext cx="1975200" cy="8046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572000" y="3894963"/>
            <a:ext cx="1975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800"/>
              <a:buFont typeface="Georgia"/>
              <a:buNone/>
            </a:pPr>
            <a:r>
              <a:rPr b="1" lang="es-ES" sz="2800">
                <a:solidFill>
                  <a:srgbClr val="0EA5E9"/>
                </a:solidFill>
                <a:latin typeface="Georgia"/>
                <a:ea typeface="Georgia"/>
                <a:cs typeface="Georgia"/>
                <a:sym typeface="Georgia"/>
              </a:rPr>
              <a:t>2+1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572000" y="4315587"/>
            <a:ext cx="197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s-ES" sz="1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Análisis NLP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729984" y="3894963"/>
            <a:ext cx="1975200" cy="8046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729984" y="3894963"/>
            <a:ext cx="1975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800"/>
              <a:buFont typeface="Georgia"/>
              <a:buNone/>
            </a:pPr>
            <a:r>
              <a:rPr b="1" lang="es-ES" sz="2800">
                <a:solidFill>
                  <a:srgbClr val="0EA5E9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729984" y="4315587"/>
            <a:ext cx="197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s-ES" sz="1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Score de credibilidad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246888" y="9144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s-E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 · Objetivos del proyecto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256032" y="914400"/>
            <a:ext cx="4187952" cy="1847088"/>
          </a:xfrm>
          <a:prstGeom prst="rect">
            <a:avLst/>
          </a:prstGeom>
          <a:solidFill>
            <a:srgbClr val="E0F2FE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256032" y="914400"/>
            <a:ext cx="4187952" cy="45720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256032" y="914400"/>
            <a:ext cx="64008" cy="1847088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38912" y="950976"/>
            <a:ext cx="39593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s-E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Sistema MAS real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38912" y="1463040"/>
            <a:ext cx="39319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200"/>
              <a:buFont typeface="Calibri"/>
              <a:buNone/>
            </a:pPr>
            <a:r>
              <a:rPr lang="es-ES" sz="120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Implementar un sistema multi-agente funcional en JADE con agentes autónomos y coordinados que colaboran para resolver el problema.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718304" y="914400"/>
            <a:ext cx="4187952" cy="1847088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718304" y="914400"/>
            <a:ext cx="4187952" cy="4572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718304" y="914400"/>
            <a:ext cx="64008" cy="184708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901184" y="950976"/>
            <a:ext cx="39593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s-E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Comunicación FIPA-ACL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901184" y="1463040"/>
            <a:ext cx="39319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0764"/>
              </a:buClr>
              <a:buSzPts val="1200"/>
              <a:buFont typeface="Calibri"/>
              <a:buNone/>
            </a:pPr>
            <a:r>
              <a:rPr lang="es-ES" sz="1200">
                <a:solidFill>
                  <a:srgbClr val="3B0764"/>
                </a:solidFill>
                <a:latin typeface="Calibri"/>
                <a:ea typeface="Calibri"/>
                <a:cs typeface="Calibri"/>
                <a:sym typeface="Calibri"/>
              </a:rPr>
              <a:t>Mensajería asíncrona con performativas REQUEST e INFORM, correlación por conversationId UUID único por noticia analizada.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256032" y="2926080"/>
            <a:ext cx="4187952" cy="1847088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256032" y="2926080"/>
            <a:ext cx="4187952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256032" y="2926080"/>
            <a:ext cx="64008" cy="184708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38912" y="2962656"/>
            <a:ext cx="39593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s-E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Múltiples fuentes de entrada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38912" y="3474720"/>
            <a:ext cx="39319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200"/>
              <a:buFont typeface="Calibri"/>
              <a:buNone/>
            </a:pPr>
            <a:r>
              <a:rPr lang="es-ES" sz="1200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Integrar adquisición de noticias desde fichero txt local, desde un método que genera noticias de prueba, feed RSS real y API externa (NewsAPI.org).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718304" y="2926080"/>
            <a:ext cx="4187952" cy="1847088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718304" y="2926080"/>
            <a:ext cx="4187952" cy="4572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718304" y="2926080"/>
            <a:ext cx="64008" cy="184708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901184" y="2962656"/>
            <a:ext cx="39593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s-E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Score de credibilidad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901184" y="3474720"/>
            <a:ext cx="39319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1200"/>
              <a:buFont typeface="Calibri"/>
              <a:buNone/>
            </a:pPr>
            <a:r>
              <a:rPr lang="es-ES" sz="1200">
                <a:solidFill>
                  <a:srgbClr val="064E3B"/>
                </a:solidFill>
                <a:latin typeface="Calibri"/>
                <a:ea typeface="Calibri"/>
                <a:cs typeface="Calibri"/>
                <a:sym typeface="Calibri"/>
              </a:rPr>
              <a:t>Calcular puntuación ponderada: reputación (40%) + sesgo invertido (35%) + sentimiento invertido (25%). Veredicto final automático.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246888" y="9144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s-E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03 · Arquitectura del sistema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91440" y="822960"/>
            <a:ext cx="1993392" cy="256032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91440" y="822960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ADQUISICIÓN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91440" y="1143000"/>
            <a:ext cx="1993392" cy="603504"/>
          </a:xfrm>
          <a:prstGeom prst="rect">
            <a:avLst/>
          </a:prstGeom>
          <a:solidFill>
            <a:srgbClr val="E0F2FE"/>
          </a:solidFill>
          <a:ln cap="flat" cmpd="sng" w="95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91440" y="1143000"/>
            <a:ext cx="54864" cy="603504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201168" y="1143000"/>
            <a:ext cx="18288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950"/>
              <a:buFont typeface="Calibri"/>
              <a:buNone/>
            </a:pPr>
            <a:r>
              <a:rPr b="1" lang="es-ES" sz="95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AgenteAdquisicion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91440" y="1892808"/>
            <a:ext cx="1993392" cy="603504"/>
          </a:xfrm>
          <a:prstGeom prst="rect">
            <a:avLst/>
          </a:prstGeom>
          <a:solidFill>
            <a:srgbClr val="E0F2FE"/>
          </a:solidFill>
          <a:ln cap="flat" cmpd="sng" w="95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91440" y="1892808"/>
            <a:ext cx="54864" cy="603504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201168" y="1892808"/>
            <a:ext cx="18288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950"/>
              <a:buFont typeface="Calibri"/>
              <a:buNone/>
            </a:pPr>
            <a:r>
              <a:rPr b="1" lang="es-ES" sz="95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AgenteAdquisicionFichero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91440" y="2642616"/>
            <a:ext cx="1993392" cy="603504"/>
          </a:xfrm>
          <a:prstGeom prst="rect">
            <a:avLst/>
          </a:prstGeom>
          <a:solidFill>
            <a:srgbClr val="E0F2FE"/>
          </a:solidFill>
          <a:ln cap="flat" cmpd="sng" w="95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91440" y="2642616"/>
            <a:ext cx="54864" cy="603504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201168" y="2642616"/>
            <a:ext cx="18288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950"/>
              <a:buFont typeface="Calibri"/>
              <a:buNone/>
            </a:pPr>
            <a:r>
              <a:rPr b="1" lang="es-ES" sz="95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AgenteAdquisicionRSS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91440" y="3392424"/>
            <a:ext cx="1993392" cy="603504"/>
          </a:xfrm>
          <a:prstGeom prst="rect">
            <a:avLst/>
          </a:prstGeom>
          <a:solidFill>
            <a:srgbClr val="E0F2FE"/>
          </a:solidFill>
          <a:ln cap="flat" cmpd="sng" w="95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91440" y="3392424"/>
            <a:ext cx="54864" cy="603504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201168" y="3392424"/>
            <a:ext cx="18288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950"/>
              <a:buFont typeface="Calibri"/>
              <a:buNone/>
            </a:pPr>
            <a:r>
              <a:rPr b="1" lang="es-ES" sz="95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AgenteAdquisicionAPI 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7"/>
          <p:cNvCxnSpPr/>
          <p:nvPr/>
        </p:nvCxnSpPr>
        <p:spPr>
          <a:xfrm>
            <a:off x="2121408" y="2414016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7"/>
          <p:cNvSpPr/>
          <p:nvPr/>
        </p:nvSpPr>
        <p:spPr>
          <a:xfrm>
            <a:off x="2418652" y="2253981"/>
            <a:ext cx="255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lang="es-ES" sz="10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2103120" y="251460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750"/>
              <a:buFont typeface="Calibri"/>
              <a:buNone/>
            </a:pPr>
            <a:r>
              <a:rPr lang="es-ES" sz="75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INFORM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2606040" y="822960"/>
            <a:ext cx="1901952" cy="25603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2606040" y="822960"/>
            <a:ext cx="1901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COORDINADOR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2606040" y="1143000"/>
            <a:ext cx="1901952" cy="2606040"/>
          </a:xfrm>
          <a:prstGeom prst="rect">
            <a:avLst/>
          </a:prstGeom>
          <a:solidFill>
            <a:srgbClr val="EDE9FE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2610603" y="1129288"/>
            <a:ext cx="63900" cy="26061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2743200" y="1261872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0764"/>
              </a:buClr>
              <a:buSzPts val="1150"/>
              <a:buFont typeface="Georgia"/>
              <a:buNone/>
            </a:pPr>
            <a:r>
              <a:rPr b="1" lang="es-ES" sz="1150">
                <a:solidFill>
                  <a:srgbClr val="3B0764"/>
                </a:solidFill>
                <a:latin typeface="Georgia"/>
                <a:ea typeface="Georgia"/>
                <a:cs typeface="Georgia"/>
                <a:sym typeface="Georgia"/>
              </a:rPr>
              <a:t>AgenteCoordinador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7"/>
          <p:cNvCxnSpPr/>
          <p:nvPr/>
        </p:nvCxnSpPr>
        <p:spPr>
          <a:xfrm>
            <a:off x="2743200" y="1691640"/>
            <a:ext cx="1572768" cy="0"/>
          </a:xfrm>
          <a:prstGeom prst="straightConnector1">
            <a:avLst/>
          </a:prstGeom>
          <a:noFill/>
          <a:ln cap="flat" cmpd="sng" w="9525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7"/>
          <p:cNvSpPr/>
          <p:nvPr/>
        </p:nvSpPr>
        <p:spPr>
          <a:xfrm>
            <a:off x="2743200" y="17830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950"/>
              <a:buFont typeface="Calibri"/>
              <a:buNone/>
            </a:pPr>
            <a:r>
              <a:rPr b="1" lang="es-ES" sz="950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RecibirNoticiasBehaviour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2743200" y="2212848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950"/>
              <a:buFont typeface="Calibri"/>
              <a:buNone/>
            </a:pPr>
            <a:r>
              <a:rPr b="1" lang="es-ES" sz="950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DelegarAnalisisBehaviour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2743200" y="264261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950"/>
              <a:buFont typeface="Calibri"/>
              <a:buNone/>
            </a:pPr>
            <a:r>
              <a:rPr b="1" lang="es-ES" sz="950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AgregarResultadosBehaviour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2743200" y="307238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lang="es-ES" sz="8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(blockingReceive × 3  — REQUISITO)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7"/>
          <p:cNvCxnSpPr/>
          <p:nvPr/>
        </p:nvCxnSpPr>
        <p:spPr>
          <a:xfrm>
            <a:off x="4544568" y="1920240"/>
            <a:ext cx="438912" cy="0"/>
          </a:xfrm>
          <a:prstGeom prst="straightConnector1">
            <a:avLst/>
          </a:prstGeom>
          <a:noFill/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7"/>
          <p:cNvSpPr/>
          <p:nvPr/>
        </p:nvSpPr>
        <p:spPr>
          <a:xfrm>
            <a:off x="4857980" y="1760192"/>
            <a:ext cx="255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lang="es-ES" sz="10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526280" y="2011680"/>
            <a:ext cx="4754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00"/>
              <a:buFont typeface="Calibri"/>
              <a:buNone/>
            </a:pPr>
            <a:r>
              <a:rPr lang="es-ES" sz="7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7"/>
          <p:cNvCxnSpPr/>
          <p:nvPr/>
        </p:nvCxnSpPr>
        <p:spPr>
          <a:xfrm>
            <a:off x="4544568" y="2834640"/>
            <a:ext cx="438912" cy="0"/>
          </a:xfrm>
          <a:prstGeom prst="straightConnector1">
            <a:avLst/>
          </a:prstGeom>
          <a:noFill/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7"/>
          <p:cNvSpPr/>
          <p:nvPr/>
        </p:nvSpPr>
        <p:spPr>
          <a:xfrm>
            <a:off x="4453193" y="2665442"/>
            <a:ext cx="255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lang="es-ES" sz="10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526280" y="2926080"/>
            <a:ext cx="4754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00"/>
              <a:buFont typeface="Calibri"/>
              <a:buNone/>
            </a:pPr>
            <a:r>
              <a:rPr lang="es-ES" sz="7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INFORM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029200" y="822960"/>
            <a:ext cx="1920240" cy="2560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5029200" y="82296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ESPECIALISTAS NLP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029200" y="1143000"/>
            <a:ext cx="1920240" cy="685800"/>
          </a:xfrm>
          <a:prstGeom prst="rect">
            <a:avLst/>
          </a:prstGeom>
          <a:solidFill>
            <a:srgbClr val="CCFBF1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029200" y="1143000"/>
            <a:ext cx="54864" cy="685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138928" y="118872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950"/>
              <a:buFont typeface="Calibri"/>
              <a:buNone/>
            </a:pPr>
            <a:r>
              <a:rPr b="1" lang="es-ES" sz="950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AgenteSentimiento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138928" y="1527048"/>
            <a:ext cx="1755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50"/>
              <a:buFont typeface="Calibri"/>
              <a:buNone/>
            </a:pPr>
            <a:r>
              <a:rPr lang="es-ES" sz="8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AnalizadorSentimiento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5029200" y="1965960"/>
            <a:ext cx="1920240" cy="685800"/>
          </a:xfrm>
          <a:prstGeom prst="rect">
            <a:avLst/>
          </a:prstGeom>
          <a:solidFill>
            <a:srgbClr val="CCFBF1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029200" y="1965960"/>
            <a:ext cx="54864" cy="685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5138928" y="201168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950"/>
              <a:buFont typeface="Calibri"/>
              <a:buNone/>
            </a:pPr>
            <a:r>
              <a:rPr b="1" lang="es-ES" sz="950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AgenteDetectorSesgo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5138928" y="2350008"/>
            <a:ext cx="1755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50"/>
              <a:buFont typeface="Calibri"/>
              <a:buNone/>
            </a:pPr>
            <a:r>
              <a:rPr lang="es-ES" sz="8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DetectorPalabrasClave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5029200" y="2788920"/>
            <a:ext cx="1920240" cy="685800"/>
          </a:xfrm>
          <a:prstGeom prst="rect">
            <a:avLst/>
          </a:prstGeom>
          <a:solidFill>
            <a:srgbClr val="CCFBF1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5029200" y="2788920"/>
            <a:ext cx="54864" cy="685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5138928" y="283464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950"/>
              <a:buFont typeface="Calibri"/>
              <a:buNone/>
            </a:pPr>
            <a:r>
              <a:rPr b="1" lang="es-ES" sz="950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AgenteVerificadorFuente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138928" y="3172968"/>
            <a:ext cx="1755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50"/>
              <a:buFont typeface="Calibri"/>
              <a:buNone/>
            </a:pPr>
            <a:r>
              <a:rPr lang="es-ES" sz="8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BDReputacionFuente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7"/>
          <p:cNvCxnSpPr/>
          <p:nvPr/>
        </p:nvCxnSpPr>
        <p:spPr>
          <a:xfrm>
            <a:off x="3557016" y="3785616"/>
            <a:ext cx="0" cy="347472"/>
          </a:xfrm>
          <a:prstGeom prst="straightConnector1">
            <a:avLst/>
          </a:prstGeom>
          <a:noFill/>
          <a:ln cap="flat" cmpd="sng" w="254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7"/>
          <p:cNvSpPr/>
          <p:nvPr/>
        </p:nvSpPr>
        <p:spPr>
          <a:xfrm>
            <a:off x="3419925" y="3986765"/>
            <a:ext cx="27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s-ES" sz="10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2606040" y="4206240"/>
            <a:ext cx="1901952" cy="658368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2606040" y="4206240"/>
            <a:ext cx="64008" cy="65836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2743200" y="4206240"/>
            <a:ext cx="17190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1000"/>
              <a:buFont typeface="Calibri"/>
              <a:buNone/>
            </a:pPr>
            <a:r>
              <a:rPr b="1" lang="es-ES" sz="1000">
                <a:solidFill>
                  <a:srgbClr val="064E3B"/>
                </a:solidFill>
                <a:latin typeface="Calibri"/>
                <a:ea typeface="Calibri"/>
                <a:cs typeface="Calibri"/>
                <a:sym typeface="Calibri"/>
              </a:rPr>
              <a:t>AgenteVisualizacion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7132320" y="822960"/>
            <a:ext cx="1874520" cy="404164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7132320" y="822960"/>
            <a:ext cx="1874520" cy="329184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7223760" y="822960"/>
            <a:ext cx="17190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b="1" lang="es-ES" sz="10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Fórmula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7223760" y="1234440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s-E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Score final: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7223760" y="1536192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s-E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Reputación  </a:t>
            </a:r>
            <a:r>
              <a:rPr b="1" lang="es-E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× 0.40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7223760" y="188366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s-E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Sesgo (inv.)  </a:t>
            </a:r>
            <a:r>
              <a:rPr b="1" lang="es-E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× 0.35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7223760" y="223113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s-E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Sentimiento (inv.)  </a:t>
            </a:r>
            <a:r>
              <a:rPr b="1" lang="es-E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× 0.25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7"/>
          <p:cNvCxnSpPr/>
          <p:nvPr/>
        </p:nvCxnSpPr>
        <p:spPr>
          <a:xfrm>
            <a:off x="7223760" y="2633472"/>
            <a:ext cx="1627632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7"/>
          <p:cNvSpPr/>
          <p:nvPr/>
        </p:nvSpPr>
        <p:spPr>
          <a:xfrm>
            <a:off x="7223760" y="2697480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s-E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Veredictos: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7205472" y="3035808"/>
            <a:ext cx="1719072" cy="420624"/>
          </a:xfrm>
          <a:prstGeom prst="rect">
            <a:avLst/>
          </a:prstGeom>
          <a:solidFill>
            <a:srgbClr val="064E3B"/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7269480" y="3035808"/>
            <a:ext cx="1005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CONFIABLE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8275320" y="3035808"/>
            <a:ext cx="594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s-E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≥ 0.70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7205472" y="3566160"/>
            <a:ext cx="1719072" cy="420624"/>
          </a:xfrm>
          <a:prstGeom prst="rect">
            <a:avLst/>
          </a:prstGeom>
          <a:solidFill>
            <a:srgbClr val="451A03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7269480" y="3566160"/>
            <a:ext cx="1005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SOSPECHOSO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8275320" y="3566160"/>
            <a:ext cx="594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s-E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≥ 0.40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7205472" y="4096512"/>
            <a:ext cx="1719072" cy="420624"/>
          </a:xfrm>
          <a:prstGeom prst="rect">
            <a:avLst/>
          </a:prstGeom>
          <a:solidFill>
            <a:srgbClr val="4C0519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7269480" y="4096512"/>
            <a:ext cx="1005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NO CONFIABLE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8275320" y="4096512"/>
            <a:ext cx="594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s-E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0.40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246888" y="9144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s-E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04 · Estructura del proyecto — Agentes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64592" y="896112"/>
            <a:ext cx="4251960" cy="1938528"/>
          </a:xfrm>
          <a:prstGeom prst="rect">
            <a:avLst/>
          </a:prstGeom>
          <a:solidFill>
            <a:srgbClr val="E0F2FE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64592" y="896112"/>
            <a:ext cx="4251960" cy="420624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164592" y="896112"/>
            <a:ext cx="64008" cy="1938528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329184" y="896112"/>
            <a:ext cx="40507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lang="es-ES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Adquisición  (×4)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347472" y="1399032"/>
            <a:ext cx="3995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100"/>
              <a:buFont typeface="Calibri"/>
              <a:buNone/>
            </a:pPr>
            <a:r>
              <a:rPr b="1" lang="es-ES" sz="110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AgenteAdquisicion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347472" y="1700784"/>
            <a:ext cx="3995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100"/>
              <a:buFont typeface="Calibri"/>
              <a:buNone/>
            </a:pPr>
            <a:r>
              <a:rPr b="1" lang="es-ES" sz="110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AgenteAdquisicionFichero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347472" y="2002536"/>
            <a:ext cx="3995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100"/>
              <a:buFont typeface="Calibri"/>
              <a:buNone/>
            </a:pPr>
            <a:r>
              <a:rPr b="1" lang="es-ES" sz="110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AgenteAdquisicionRSS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347472" y="2304288"/>
            <a:ext cx="3995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100"/>
              <a:buFont typeface="Calibri"/>
              <a:buNone/>
            </a:pPr>
            <a:r>
              <a:rPr b="1" lang="es-ES" sz="110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AgenteAdquisicionAPI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690872" y="896112"/>
            <a:ext cx="4251960" cy="1938528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690872" y="896112"/>
            <a:ext cx="4251960" cy="42062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690872" y="896112"/>
            <a:ext cx="64008" cy="193852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855464" y="896112"/>
            <a:ext cx="40507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lang="es-ES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Coordinación  (×1)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873752" y="1399032"/>
            <a:ext cx="3995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0764"/>
              </a:buClr>
              <a:buSzPts val="1100"/>
              <a:buFont typeface="Calibri"/>
              <a:buNone/>
            </a:pPr>
            <a:r>
              <a:rPr b="1" lang="es-ES" sz="1100">
                <a:solidFill>
                  <a:srgbClr val="3B0764"/>
                </a:solidFill>
                <a:latin typeface="Calibri"/>
                <a:ea typeface="Calibri"/>
                <a:cs typeface="Calibri"/>
                <a:sym typeface="Calibri"/>
              </a:rPr>
              <a:t>AgenteCoordinador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873752" y="1700784"/>
            <a:ext cx="3995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s-E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 Mapa pendingReports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873752" y="2002536"/>
            <a:ext cx="3995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s-E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 Correlación por UUID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4873752" y="2304288"/>
            <a:ext cx="3995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s-E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 Motor central del sistema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164592" y="2999232"/>
            <a:ext cx="4251960" cy="1938528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164592" y="2999232"/>
            <a:ext cx="4251960" cy="42062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164592" y="2999232"/>
            <a:ext cx="64008" cy="193852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329184" y="2999232"/>
            <a:ext cx="40507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lang="es-ES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Especialistas NLP  (×3)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347472" y="3502152"/>
            <a:ext cx="3995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100"/>
              <a:buFont typeface="Calibri"/>
              <a:buNone/>
            </a:pPr>
            <a:r>
              <a:rPr b="1" lang="es-ES" sz="1100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AgenteSentimiento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347472" y="3803904"/>
            <a:ext cx="3995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100"/>
              <a:buFont typeface="Calibri"/>
              <a:buNone/>
            </a:pPr>
            <a:r>
              <a:rPr b="1" lang="es-ES" sz="1100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AgenteDetectorSesgo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347472" y="4105656"/>
            <a:ext cx="3995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100"/>
              <a:buFont typeface="Calibri"/>
              <a:buNone/>
            </a:pPr>
            <a:r>
              <a:rPr b="1" lang="es-ES" sz="1100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AgenteVerificadorFuente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347472" y="4407408"/>
            <a:ext cx="3995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s-E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 Patrón idéntico en los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690872" y="2999232"/>
            <a:ext cx="4251960" cy="1938528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690872" y="2999232"/>
            <a:ext cx="4251960" cy="420624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690872" y="2999232"/>
            <a:ext cx="64008" cy="193852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855464" y="2999232"/>
            <a:ext cx="40507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lang="es-ES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Visualización  (×1)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4873752" y="3502152"/>
            <a:ext cx="3995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1100"/>
              <a:buFont typeface="Calibri"/>
              <a:buNone/>
            </a:pPr>
            <a:r>
              <a:rPr b="1" lang="es-ES" sz="1100">
                <a:solidFill>
                  <a:srgbClr val="064E3B"/>
                </a:solidFill>
                <a:latin typeface="Calibri"/>
                <a:ea typeface="Calibri"/>
                <a:cs typeface="Calibri"/>
                <a:sym typeface="Calibri"/>
              </a:rPr>
              <a:t>AgenteVisualizacion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873752" y="3803904"/>
            <a:ext cx="3995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s-E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 Sin lógica de negocio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4873752" y="4105656"/>
            <a:ext cx="3995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s-E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 Imprime informe formateado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873752" y="4407408"/>
            <a:ext cx="3995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s-E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 Veredicto CONFIABLE / SOSPECHOSO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246888" y="9144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s-E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04 · Estructura del proyecto — Behaviours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164598" y="886975"/>
            <a:ext cx="4259700" cy="4005000"/>
          </a:xfrm>
          <a:prstGeom prst="rect">
            <a:avLst/>
          </a:prstGeom>
          <a:solidFill>
            <a:srgbClr val="E0F2FE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64598" y="886975"/>
            <a:ext cx="4259700" cy="45720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64592" y="886968"/>
            <a:ext cx="64008" cy="4005072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301749" y="886975"/>
            <a:ext cx="402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lang="es-ES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CyclicBehaviour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393191" y="1417320"/>
            <a:ext cx="380473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 ejecuta en bucle continuo esperando mensajes entrantes.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9"/>
          <p:cNvCxnSpPr/>
          <p:nvPr/>
        </p:nvCxnSpPr>
        <p:spPr>
          <a:xfrm>
            <a:off x="301751" y="2075688"/>
            <a:ext cx="3871800" cy="5700"/>
          </a:xfrm>
          <a:prstGeom prst="straightConnector1">
            <a:avLst/>
          </a:prstGeom>
          <a:noFill/>
          <a:ln cap="flat" cmpd="sng" w="95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9"/>
          <p:cNvSpPr/>
          <p:nvPr/>
        </p:nvSpPr>
        <p:spPr>
          <a:xfrm>
            <a:off x="301752" y="2121408"/>
            <a:ext cx="263347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850"/>
              <a:buFont typeface="Calibri"/>
              <a:buNone/>
            </a:pPr>
            <a:r>
              <a:rPr b="1" lang="es-ES" sz="85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Clases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301752" y="2423160"/>
            <a:ext cx="2633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00"/>
              <a:buFont typeface="Calibri"/>
              <a:buNone/>
            </a:pPr>
            <a:r>
              <a:rPr b="1" lang="es-ES" sz="100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RecibirNoticiasBehaviour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301752" y="2752344"/>
            <a:ext cx="2633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00"/>
              <a:buFont typeface="Calibri"/>
              <a:buNone/>
            </a:pPr>
            <a:r>
              <a:rPr b="1" lang="es-ES" sz="100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AnalizarSentimientoBehaviour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301752" y="3081528"/>
            <a:ext cx="2633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00"/>
              <a:buFont typeface="Calibri"/>
              <a:buNone/>
            </a:pPr>
            <a:r>
              <a:rPr b="1" lang="es-ES" sz="100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DetectarSesgoBehaviour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301752" y="3410712"/>
            <a:ext cx="2633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00"/>
              <a:buFont typeface="Calibri"/>
              <a:buNone/>
            </a:pPr>
            <a:r>
              <a:rPr b="1" lang="es-ES" sz="100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VerificarFuenteBehaviour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301752" y="3739896"/>
            <a:ext cx="2633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00"/>
              <a:buFont typeface="Calibri"/>
              <a:buNone/>
            </a:pPr>
            <a:r>
              <a:rPr b="1" lang="es-ES" sz="100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AgregarResultadosBehaviour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2689226" y="2752350"/>
            <a:ext cx="136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00"/>
              <a:buFont typeface="Calibri"/>
              <a:buNone/>
            </a:pPr>
            <a:r>
              <a:rPr b="1" lang="es-ES" sz="100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ActualizarUIBehaviour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848590" y="4190894"/>
            <a:ext cx="2991900" cy="59430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5927598" y="4103716"/>
            <a:ext cx="54864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837693" y="4180031"/>
            <a:ext cx="2991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AgregarResultadosBehaviour usa blockingReceive × 3 — requisito clave del enunciado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4827527" y="886975"/>
            <a:ext cx="4170300" cy="4005000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4827402" y="886975"/>
            <a:ext cx="417030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4707820" y="886975"/>
            <a:ext cx="119700" cy="40050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4827531" y="886975"/>
            <a:ext cx="414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lang="es-ES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TickerBehaviour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134196" y="1417325"/>
            <a:ext cx="3638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 ejecuta periódicamente cada N ms (por defecto 10 000 ms).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9"/>
          <p:cNvCxnSpPr/>
          <p:nvPr/>
        </p:nvCxnSpPr>
        <p:spPr>
          <a:xfrm flipH="1" rot="10800000">
            <a:off x="5134211" y="2070588"/>
            <a:ext cx="3681600" cy="5100"/>
          </a:xfrm>
          <a:prstGeom prst="straightConnector1">
            <a:avLst/>
          </a:prstGeom>
          <a:noFill/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9"/>
          <p:cNvSpPr/>
          <p:nvPr/>
        </p:nvSpPr>
        <p:spPr>
          <a:xfrm>
            <a:off x="5134211" y="2121408"/>
            <a:ext cx="2633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50"/>
              <a:buFont typeface="Calibri"/>
              <a:buNone/>
            </a:pPr>
            <a:r>
              <a:rPr b="1" lang="es-ES" sz="850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Clases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5134211" y="2423160"/>
            <a:ext cx="263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000"/>
              <a:buFont typeface="Calibri"/>
              <a:buNone/>
            </a:pPr>
            <a:r>
              <a:rPr b="1" lang="es-ES" sz="1000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ObtenerNoticiasBehaviour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5134211" y="2752344"/>
            <a:ext cx="263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000"/>
              <a:buFont typeface="Calibri"/>
              <a:buNone/>
            </a:pPr>
            <a:r>
              <a:rPr b="1" lang="es-ES" sz="1000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ObtenerNoticiasFicheroBehaviour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5134211" y="3081528"/>
            <a:ext cx="263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000"/>
              <a:buFont typeface="Calibri"/>
              <a:buNone/>
            </a:pPr>
            <a:r>
              <a:rPr b="1" lang="es-ES" sz="1000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ObtenerNoticiasRSSBehaviour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5134211" y="3410712"/>
            <a:ext cx="263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000"/>
              <a:buFont typeface="Calibri"/>
              <a:buNone/>
            </a:pPr>
            <a:r>
              <a:rPr b="1" lang="es-ES" sz="1000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ObtenerNoticiasAPIBehaviour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5578867" y="4206240"/>
            <a:ext cx="2679300" cy="594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5688595" y="4206240"/>
            <a:ext cx="2541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Cada agente de adquisición arranca con retraso para no saturar el coordinador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2678327" y="2393775"/>
            <a:ext cx="1519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00"/>
              <a:buFont typeface="Calibri"/>
              <a:buNone/>
            </a:pPr>
            <a:r>
              <a:rPr b="1" lang="es-ES" sz="100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DelegarAnalisisBehaviour</a:t>
            </a:r>
            <a:endParaRPr b="1" sz="1000">
              <a:solidFill>
                <a:srgbClr val="0C4A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5143753" y="3746327"/>
            <a:ext cx="263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000"/>
              <a:buFont typeface="Calibri"/>
              <a:buNone/>
            </a:pPr>
            <a:r>
              <a:rPr b="1" lang="es-ES" sz="1000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FetchNoticiaBehaviour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2655224" y="2254827"/>
            <a:ext cx="383355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lang="es-ES" sz="3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05 · Demo en vivo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